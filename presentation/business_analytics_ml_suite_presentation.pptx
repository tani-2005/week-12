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121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31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36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2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5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7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59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4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9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0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1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50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Analytics &amp; Machine Learning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A Modular Predictive Intelligence Platform for Churn Prediction, Sales Forecasting, and Property Valuation</a:t>
            </a:r>
          </a:p>
          <a:p>
            <a:r>
              <a:rPr lang="en-US" b="1" dirty="0"/>
              <a:t>Developed Using:</a:t>
            </a:r>
            <a:br>
              <a:rPr lang="en-US" dirty="0"/>
            </a:br>
            <a:r>
              <a:rPr lang="en-US" dirty="0"/>
              <a:t>Python • Scikit-learn • Pandas • </a:t>
            </a:r>
            <a:r>
              <a:rPr lang="en-US" dirty="0" err="1"/>
              <a:t>Streamlit</a:t>
            </a:r>
            <a:r>
              <a:rPr lang="en-US" dirty="0"/>
              <a:t> • Plotly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organizations generate large volumes of data but struggle to convert it into actionable intelligence.</a:t>
            </a:r>
          </a:p>
          <a:p>
            <a:r>
              <a:rPr lang="en-US" dirty="0"/>
              <a:t>Key decision gaps exist in:</a:t>
            </a:r>
          </a:p>
          <a:p>
            <a:r>
              <a:rPr lang="en-US" dirty="0"/>
              <a:t>• Identifying customers likely to churn</a:t>
            </a:r>
            <a:br>
              <a:rPr lang="en-US" dirty="0"/>
            </a:br>
            <a:r>
              <a:rPr lang="en-US" dirty="0"/>
              <a:t>• Forecasting future sales performance</a:t>
            </a:r>
            <a:br>
              <a:rPr lang="en-US" dirty="0"/>
            </a:br>
            <a:r>
              <a:rPr lang="en-US" dirty="0"/>
              <a:t>• Estimating property values accurately</a:t>
            </a:r>
          </a:p>
          <a:p>
            <a:r>
              <a:rPr lang="en-US" dirty="0"/>
              <a:t>This project addresses these gaps through an integrated machine learning analytics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primary objectives of this system are:</a:t>
            </a:r>
          </a:p>
          <a:p>
            <a:r>
              <a:rPr lang="en-US" dirty="0"/>
              <a:t>• Design reusable end-to-end machine learning pipelines</a:t>
            </a:r>
            <a:br>
              <a:rPr lang="en-US" dirty="0"/>
            </a:br>
            <a:r>
              <a:rPr lang="en-US" dirty="0"/>
              <a:t>• Develop high-accuracy predictive models for multiple business tasks</a:t>
            </a:r>
            <a:br>
              <a:rPr lang="en-US" dirty="0"/>
            </a:br>
            <a:r>
              <a:rPr lang="en-US" dirty="0"/>
              <a:t>• Build an interactive analytics dashboard for real-time insights</a:t>
            </a:r>
            <a:br>
              <a:rPr lang="en-US" dirty="0"/>
            </a:br>
            <a:r>
              <a:rPr lang="en-US" dirty="0"/>
              <a:t>• Enable explainable predictions for decision support</a:t>
            </a:r>
            <a:br>
              <a:rPr lang="en-US" dirty="0"/>
            </a:br>
            <a:r>
              <a:rPr lang="en-US" dirty="0"/>
              <a:t>• Demonstrate production-style ML workflow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real-world structured datasets were used:</a:t>
            </a:r>
          </a:p>
          <a:p>
            <a:r>
              <a:rPr lang="en-US" b="1" dirty="0"/>
              <a:t>Customer Churn Dataset</a:t>
            </a:r>
            <a:br>
              <a:rPr lang="en-US" dirty="0"/>
            </a:br>
            <a:r>
              <a:rPr lang="en-US" dirty="0"/>
              <a:t>Used to classify customers at risk of leaving</a:t>
            </a:r>
          </a:p>
          <a:p>
            <a:r>
              <a:rPr lang="en-US" b="1" dirty="0"/>
              <a:t>Sales Transaction Dataset</a:t>
            </a:r>
            <a:br>
              <a:rPr lang="en-US" dirty="0"/>
            </a:br>
            <a:r>
              <a:rPr lang="en-US" dirty="0"/>
              <a:t>Used to forecast future revenue trends</a:t>
            </a:r>
          </a:p>
          <a:p>
            <a:r>
              <a:rPr lang="en-US" b="1" dirty="0"/>
              <a:t>House Price Dataset</a:t>
            </a:r>
            <a:br>
              <a:rPr lang="en-US" dirty="0"/>
            </a:br>
            <a:r>
              <a:rPr lang="en-US" dirty="0"/>
              <a:t>Used to estimate property valuation</a:t>
            </a:r>
          </a:p>
          <a:p>
            <a:r>
              <a:rPr lang="en-US" dirty="0"/>
              <a:t>Each dataset was preprocessed using feature engineering, normalization, and missing-value handling techniques.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system follows a modular ML pipeline architecture:</a:t>
            </a:r>
          </a:p>
          <a:p>
            <a:r>
              <a:rPr lang="en-IN" b="1" dirty="0"/>
              <a:t>Data Collection → Data Preprocessing → Feature Engineering → Model Training → Model Evaluation → Deployment Dashboard</a:t>
            </a:r>
            <a:endParaRPr lang="en-IN" dirty="0"/>
          </a:p>
          <a:p>
            <a:r>
              <a:rPr lang="en-IN" dirty="0"/>
              <a:t>This architecture ensures scalability, maintainability, and reusability across predictive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Different machine learning models were selected based on prediction type:</a:t>
            </a:r>
          </a:p>
          <a:p>
            <a:r>
              <a:rPr lang="en-US" b="1" dirty="0"/>
              <a:t>Random Forest Classifier</a:t>
            </a:r>
            <a:br>
              <a:rPr lang="en-US" dirty="0"/>
            </a:br>
            <a:r>
              <a:rPr lang="en-US" dirty="0"/>
              <a:t>Used for customer churn prediction</a:t>
            </a:r>
          </a:p>
          <a:p>
            <a:r>
              <a:rPr lang="en-US" b="1" dirty="0"/>
              <a:t>Random Forest Regressor</a:t>
            </a:r>
            <a:br>
              <a:rPr lang="en-US" dirty="0"/>
            </a:br>
            <a:r>
              <a:rPr lang="en-US" dirty="0"/>
              <a:t>Used for sales forecasting</a:t>
            </a:r>
          </a:p>
          <a:p>
            <a:r>
              <a:rPr lang="en-US" b="1" dirty="0"/>
              <a:t>Random Forest Regressor</a:t>
            </a:r>
            <a:br>
              <a:rPr lang="en-US" dirty="0"/>
            </a:br>
            <a:r>
              <a:rPr lang="en-US" dirty="0"/>
              <a:t>Used for property price estimation</a:t>
            </a:r>
          </a:p>
          <a:p>
            <a:r>
              <a:rPr lang="en-US" dirty="0"/>
              <a:t>Random Forest was chosen due to:</a:t>
            </a:r>
          </a:p>
          <a:p>
            <a:r>
              <a:rPr lang="en-US" dirty="0"/>
              <a:t>• High prediction accuracy</a:t>
            </a:r>
            <a:br>
              <a:rPr lang="en-US" dirty="0"/>
            </a:br>
            <a:r>
              <a:rPr lang="en-US" dirty="0"/>
              <a:t>• Robust handling of non-linear data</a:t>
            </a:r>
            <a:br>
              <a:rPr lang="en-US" dirty="0"/>
            </a:br>
            <a:r>
              <a:rPr lang="en-US" dirty="0"/>
              <a:t>• Reduced overfitting risk</a:t>
            </a:r>
            <a:br>
              <a:rPr lang="en-US" dirty="0"/>
            </a:br>
            <a:r>
              <a:rPr lang="en-US" dirty="0"/>
              <a:t>• Built-in feature importance interpretability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To ensure reliable performance, multiple evaluation metrics were applied.</a:t>
            </a:r>
          </a:p>
          <a:p>
            <a:r>
              <a:rPr lang="en-IN" b="1" dirty="0"/>
              <a:t>For Classification (Churn Prediction):</a:t>
            </a:r>
            <a:endParaRPr lang="en-IN" dirty="0"/>
          </a:p>
          <a:p>
            <a:r>
              <a:rPr lang="en-IN" dirty="0"/>
              <a:t>• Accuracy</a:t>
            </a:r>
            <a:br>
              <a:rPr lang="en-IN" dirty="0"/>
            </a:br>
            <a:r>
              <a:rPr lang="en-IN" dirty="0"/>
              <a:t>• Precision</a:t>
            </a:r>
            <a:br>
              <a:rPr lang="en-IN" dirty="0"/>
            </a:br>
            <a:r>
              <a:rPr lang="en-IN" dirty="0"/>
              <a:t>• Recall</a:t>
            </a:r>
            <a:br>
              <a:rPr lang="en-IN" dirty="0"/>
            </a:br>
            <a:r>
              <a:rPr lang="en-IN" dirty="0"/>
              <a:t>• Confusion Matrix Analysis</a:t>
            </a:r>
          </a:p>
          <a:p>
            <a:r>
              <a:rPr lang="en-IN" b="1" dirty="0"/>
              <a:t>For Regression (Sales &amp; Price Prediction):</a:t>
            </a:r>
            <a:endParaRPr lang="en-IN" dirty="0"/>
          </a:p>
          <a:p>
            <a:r>
              <a:rPr lang="en-IN" dirty="0"/>
              <a:t>• Mean Absolute Error (MAE)</a:t>
            </a:r>
            <a:br>
              <a:rPr lang="en-IN" dirty="0"/>
            </a:br>
            <a:r>
              <a:rPr lang="en-IN" dirty="0"/>
              <a:t>• Mean Squared Error (MSE)</a:t>
            </a:r>
            <a:br>
              <a:rPr lang="en-IN" dirty="0"/>
            </a:br>
            <a:r>
              <a:rPr lang="en-IN" dirty="0"/>
              <a:t>• R² Score (Model Fit Strength)</a:t>
            </a:r>
          </a:p>
          <a:p>
            <a:r>
              <a:rPr lang="en-IN" dirty="0"/>
              <a:t>These metrics validate both prediction correctness and model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Streamlit</a:t>
            </a:r>
            <a:r>
              <a:rPr lang="en-US" dirty="0"/>
              <a:t>-based dashboard was developed for real-time predictions and visualization </a:t>
            </a:r>
          </a:p>
          <a:p>
            <a:r>
              <a:rPr lang="en-US" dirty="0"/>
              <a:t>Key features include:</a:t>
            </a:r>
          </a:p>
          <a:p>
            <a:r>
              <a:rPr lang="en-US" dirty="0"/>
              <a:t>• Customer churn risk prediction interface</a:t>
            </a:r>
            <a:br>
              <a:rPr lang="en-US" dirty="0"/>
            </a:br>
            <a:r>
              <a:rPr lang="en-US" dirty="0"/>
              <a:t>• Sales forecasting visualization charts</a:t>
            </a:r>
            <a:br>
              <a:rPr lang="en-US" dirty="0"/>
            </a:br>
            <a:r>
              <a:rPr lang="en-US" dirty="0"/>
              <a:t>• Property price estimation tool</a:t>
            </a:r>
            <a:br>
              <a:rPr lang="en-US" dirty="0"/>
            </a:br>
            <a:r>
              <a:rPr lang="en-US" dirty="0"/>
              <a:t>• Feature importance explanation graphs</a:t>
            </a:r>
            <a:br>
              <a:rPr lang="en-US" dirty="0"/>
            </a:br>
            <a:r>
              <a:rPr lang="en-US" dirty="0"/>
              <a:t>• User-friendly input parameter controls</a:t>
            </a:r>
          </a:p>
          <a:p>
            <a:r>
              <a:rPr lang="en-US" dirty="0"/>
              <a:t>This enables non-technical users to interact directly with ML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system provides measurable decision-support value:</a:t>
            </a:r>
          </a:p>
          <a:p>
            <a:r>
              <a:rPr lang="en-IN" b="1" dirty="0"/>
              <a:t>Customer Retention Optimization</a:t>
            </a:r>
            <a:br>
              <a:rPr lang="en-IN" dirty="0"/>
            </a:br>
            <a:r>
              <a:rPr lang="en-IN" dirty="0"/>
              <a:t>Identifies high-risk customers early</a:t>
            </a:r>
          </a:p>
          <a:p>
            <a:r>
              <a:rPr lang="en-IN" b="1" dirty="0"/>
              <a:t>Revenue Planning Enhancement</a:t>
            </a:r>
            <a:br>
              <a:rPr lang="en-IN" dirty="0"/>
            </a:br>
            <a:r>
              <a:rPr lang="en-IN" dirty="0"/>
              <a:t>Improves sales forecasting accuracy</a:t>
            </a:r>
          </a:p>
          <a:p>
            <a:r>
              <a:rPr lang="en-IN" b="1" dirty="0"/>
              <a:t>Property Pricing Intelligence</a:t>
            </a:r>
            <a:br>
              <a:rPr lang="en-IN" dirty="0"/>
            </a:br>
            <a:r>
              <a:rPr lang="en-IN" dirty="0"/>
              <a:t>Supports data-driven valuation strategies</a:t>
            </a:r>
          </a:p>
          <a:p>
            <a:r>
              <a:rPr lang="en-IN" dirty="0"/>
              <a:t>Overall, the platform transforms raw data into strategic insights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4CDC0-0D02-D688-54EA-182DE361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B6D6-FE10-1B18-7BBE-F83A723E0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Highlights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DB750-B61F-7E83-A146-8BB0DF629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engineering strengths of the project:</a:t>
            </a:r>
          </a:p>
          <a:p>
            <a:r>
              <a:rPr lang="en-US" dirty="0"/>
              <a:t>• Modular ML pipeline architecture</a:t>
            </a:r>
            <a:br>
              <a:rPr lang="en-US" dirty="0"/>
            </a:br>
            <a:r>
              <a:rPr lang="en-US" dirty="0"/>
              <a:t>• Multi-dataset predictive framework</a:t>
            </a:r>
            <a:br>
              <a:rPr lang="en-US" dirty="0"/>
            </a:br>
            <a:r>
              <a:rPr lang="en-US" dirty="0"/>
              <a:t>• Explainable AI using feature importance</a:t>
            </a:r>
            <a:br>
              <a:rPr lang="en-US" dirty="0"/>
            </a:br>
            <a:r>
              <a:rPr lang="en-US" dirty="0"/>
              <a:t>• Interactive visualization dashboard</a:t>
            </a:r>
            <a:br>
              <a:rPr lang="en-US" dirty="0"/>
            </a:br>
            <a:r>
              <a:rPr lang="en-US" dirty="0"/>
              <a:t>• Scalable deployment-ready structure</a:t>
            </a:r>
          </a:p>
          <a:p>
            <a:r>
              <a:rPr lang="en-US" dirty="0"/>
              <a:t>These features simulate real-world analytics product design.</a:t>
            </a:r>
          </a:p>
        </p:txBody>
      </p:sp>
    </p:spTree>
    <p:extLst>
      <p:ext uri="{BB962C8B-B14F-4D97-AF65-F5344CB8AC3E}">
        <p14:creationId xmlns:p14="http://schemas.microsoft.com/office/powerpoint/2010/main" val="733283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system can be extended with:</a:t>
            </a:r>
          </a:p>
          <a:p>
            <a:r>
              <a:rPr lang="en-IN" dirty="0"/>
              <a:t>• Hyperparameter optimization using </a:t>
            </a:r>
            <a:r>
              <a:rPr lang="en-IN" dirty="0" err="1"/>
              <a:t>GridSearchCV</a:t>
            </a:r>
            <a:br>
              <a:rPr lang="en-IN" dirty="0"/>
            </a:br>
            <a:r>
              <a:rPr lang="en-IN" dirty="0"/>
              <a:t>• Cloud deployment (AWS / Azure / GCP)</a:t>
            </a:r>
            <a:br>
              <a:rPr lang="en-IN" dirty="0"/>
            </a:br>
            <a:r>
              <a:rPr lang="en-IN" dirty="0"/>
              <a:t>• REST API integration for external services</a:t>
            </a:r>
            <a:br>
              <a:rPr lang="en-IN" dirty="0"/>
            </a:br>
            <a:r>
              <a:rPr lang="en-IN" dirty="0"/>
              <a:t>• Model version tracking using </a:t>
            </a:r>
            <a:r>
              <a:rPr lang="en-IN" dirty="0" err="1"/>
              <a:t>MLflow</a:t>
            </a:r>
            <a:br>
              <a:rPr lang="en-IN" dirty="0"/>
            </a:br>
            <a:r>
              <a:rPr lang="en-IN" dirty="0"/>
              <a:t>• Automated data pipeline scheduling</a:t>
            </a:r>
          </a:p>
          <a:p>
            <a:r>
              <a:rPr lang="en-IN" dirty="0"/>
              <a:t>These enhancements would enable enterprise-scale deployment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the complete lifecycle of a production-style machine learning system:</a:t>
            </a:r>
          </a:p>
          <a:p>
            <a:r>
              <a:rPr lang="en-US" dirty="0"/>
              <a:t>From data preprocessing to model training and deployment via an interactive dashboard.</a:t>
            </a:r>
          </a:p>
          <a:p>
            <a:r>
              <a:rPr lang="en-US" dirty="0"/>
              <a:t>It showcases how predictive analytics can support:</a:t>
            </a:r>
          </a:p>
          <a:p>
            <a:r>
              <a:rPr lang="en-US" dirty="0"/>
              <a:t>• Customer retention strategies</a:t>
            </a:r>
            <a:br>
              <a:rPr lang="en-US" dirty="0"/>
            </a:br>
            <a:r>
              <a:rPr lang="en-US" dirty="0"/>
              <a:t>• Sales forecasting decisions</a:t>
            </a:r>
            <a:br>
              <a:rPr lang="en-US" dirty="0"/>
            </a:br>
            <a:r>
              <a:rPr lang="en-US" dirty="0"/>
              <a:t>• Property valuation accuracy</a:t>
            </a:r>
          </a:p>
          <a:p>
            <a:r>
              <a:rPr lang="en-US" dirty="0"/>
              <a:t>The platform serves as a scalable foundation for future intelligent business analytics solutions.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</TotalTime>
  <Words>639</Words>
  <Application>Microsoft Office PowerPoint</Application>
  <PresentationFormat>On-screen Show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Calibri Light</vt:lpstr>
      <vt:lpstr>Retrospect</vt:lpstr>
      <vt:lpstr>Business Analytics &amp; Machine Learning Suite</vt:lpstr>
      <vt:lpstr>Problem Statement</vt:lpstr>
      <vt:lpstr>Project Objectives</vt:lpstr>
      <vt:lpstr>Datasets Used</vt:lpstr>
      <vt:lpstr>System Architecture</vt:lpstr>
      <vt:lpstr>Models Implemented</vt:lpstr>
      <vt:lpstr>Evaluation Metrics</vt:lpstr>
      <vt:lpstr>Interactive Dashboard Features</vt:lpstr>
      <vt:lpstr>Business Impact</vt:lpstr>
      <vt:lpstr>Technical Highlights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Tanya Deep</cp:lastModifiedBy>
  <cp:revision>2</cp:revision>
  <dcterms:created xsi:type="dcterms:W3CDTF">2013-01-27T09:14:16Z</dcterms:created>
  <dcterms:modified xsi:type="dcterms:W3CDTF">2026-04-03T05:24:18Z</dcterms:modified>
  <cp:category/>
</cp:coreProperties>
</file>